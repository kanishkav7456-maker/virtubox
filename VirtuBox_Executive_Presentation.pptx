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97D"/>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3657600"/>
          </a:xfrm>
          <a:prstGeom prst="rect">
            <a:avLst/>
          </a:prstGeom>
          <a:noFill/>
        </p:spPr>
        <p:txBody>
          <a:bodyPr wrap="square">
            <a:spAutoFit/>
          </a:bodyPr>
          <a:lstStyle/>
          <a:p>
            <a:pPr>
              <a:defRPr sz="3400" b="1">
                <a:solidFill>
                  <a:srgbClr val="FFFFFF"/>
                </a:solidFill>
                <a:latin typeface="Calibri"/>
              </a:defRPr>
            </a:pPr>
            <a:r>
              <a:t>EXECUTIVE BUSINESS PERFORMANCE &amp; MARGIN OPTIMIZATION</a:t>
            </a:r>
          </a:p>
          <a:p>
            <a:pPr>
              <a:spcBef>
                <a:spcPts val="1500"/>
              </a:spcBef>
              <a:defRPr sz="2000">
                <a:solidFill>
                  <a:srgbClr val="C8DCF5"/>
                </a:solidFill>
              </a:defRPr>
            </a:pPr>
            <a:r>
              <a:t>Unlocking Sustainable EBITDA Growth Through Pricing Discipline and Supply Chain Efficiency</a:t>
            </a:r>
          </a:p>
          <a:p>
            <a:pPr>
              <a:spcBef>
                <a:spcPts val="3500"/>
              </a:spcBef>
              <a:defRPr sz="1400">
                <a:solidFill>
                  <a:srgbClr val="B4BECD"/>
                </a:solidFill>
              </a:defRPr>
            </a:pPr>
            <a:r>
              <a:t>VirtuBox Data Analyst Assessment | Global Commercial Operations Analysis (51,290 Transactions)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1F497D"/>
                </a:solidFill>
                <a:latin typeface="Calibri"/>
              </a:defRPr>
            </a:pPr>
            <a:r>
              <a:t>Slide 2: Business Problem, Context &amp; Methodology</a:t>
            </a:r>
          </a:p>
          <a:p>
            <a:pPr>
              <a:defRPr sz="1400">
                <a:solidFill>
                  <a:srgbClr val="646464"/>
                </a:solidFill>
                <a:latin typeface="Calibri"/>
              </a:defRPr>
            </a:pPr>
            <a:r>
              <a:t>Diagnosing the disconnect between revenue growth and operating profit</a:t>
            </a:r>
          </a:p>
        </p:txBody>
      </p:sp>
      <p:sp>
        <p:nvSpPr>
          <p:cNvPr id="3" name="TextBox 2"/>
          <p:cNvSpPr txBox="1"/>
          <p:nvPr/>
        </p:nvSpPr>
        <p:spPr>
          <a:xfrm>
            <a:off x="731520" y="1463040"/>
            <a:ext cx="10698480" cy="4754880"/>
          </a:xfrm>
          <a:prstGeom prst="rect">
            <a:avLst/>
          </a:prstGeom>
          <a:noFill/>
        </p:spPr>
        <p:txBody>
          <a:bodyPr wrap="square">
            <a:spAutoFit/>
          </a:bodyPr>
          <a:lstStyle/>
          <a:p/>
          <a:p>
            <a:pPr>
              <a:spcBef>
                <a:spcPts val="1200"/>
              </a:spcBef>
              <a:defRPr b="1" sz="1500">
                <a:solidFill>
                  <a:srgbClr val="1F497D"/>
                </a:solidFill>
              </a:defRPr>
            </a:pPr>
            <a:r>
              <a:t>• The Core Dilemma: </a:t>
            </a:r>
            <a:r>
              <a:rPr b="0">
                <a:solidFill>
                  <a:srgbClr val="323232"/>
                </a:solidFill>
              </a:rPr>
              <a:t>Top-line revenue reached $12.64M across 51,290 global orders, but net operating margin stalled at 11.6% ($1.47M profit), revealing structural margin leaks.</a:t>
            </a:r>
          </a:p>
          <a:p>
            <a:pPr>
              <a:spcBef>
                <a:spcPts val="1200"/>
              </a:spcBef>
              <a:defRPr b="1" sz="1500">
                <a:solidFill>
                  <a:srgbClr val="1F497D"/>
                </a:solidFill>
              </a:defRPr>
            </a:pPr>
            <a:r>
              <a:t>• Dataset Scope &amp; Integrity: </a:t>
            </a:r>
            <a:r>
              <a:rPr b="0">
                <a:solidFill>
                  <a:srgbClr val="323232"/>
                </a:solidFill>
              </a:rPr>
              <a:t>Analyzed 51,290 verified global transactions across 147 countries, 7 regional markets, 3 customer segments, and 17 product lines.</a:t>
            </a:r>
          </a:p>
          <a:p>
            <a:pPr>
              <a:spcBef>
                <a:spcPts val="1200"/>
              </a:spcBef>
              <a:defRPr b="1" sz="1500">
                <a:solidFill>
                  <a:srgbClr val="1F497D"/>
                </a:solidFill>
              </a:defRPr>
            </a:pPr>
            <a:r>
              <a:t>• Data Engineering Pipeline: </a:t>
            </a:r>
            <a:r>
              <a:rPr b="0">
                <a:solidFill>
                  <a:srgbClr val="323232"/>
                </a:solidFill>
              </a:rPr>
              <a:t>Cleaned legacy date fields, standardized non-US postal records (41,296 rows preserved), and engineered key metrics: Unit Cost, Profit Margin %, Shipping Days, and Discount Bands.</a:t>
            </a:r>
          </a:p>
          <a:p>
            <a:pPr>
              <a:spcBef>
                <a:spcPts val="1200"/>
              </a:spcBef>
              <a:defRPr b="1" sz="1500">
                <a:solidFill>
                  <a:srgbClr val="1F497D"/>
                </a:solidFill>
              </a:defRPr>
            </a:pPr>
            <a:r>
              <a:t>• Analytical Approach: </a:t>
            </a:r>
            <a:r>
              <a:rPr b="0">
                <a:solidFill>
                  <a:srgbClr val="323232"/>
                </a:solidFill>
              </a:rPr>
              <a:t>Applied exploratory data analysis (EDA), cohort elasticity analysis, hypothesis testing on B2B vs Consumer unit economics, and operational fulfillment SLA benchmarking.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1F497D"/>
                </a:solidFill>
                <a:latin typeface="Calibri"/>
              </a:defRPr>
            </a:pPr>
            <a:r>
              <a:t>Slide 3: Executive Key Findings Overview</a:t>
            </a:r>
          </a:p>
          <a:p>
            <a:pPr>
              <a:defRPr sz="1400">
                <a:solidFill>
                  <a:srgbClr val="646464"/>
                </a:solidFill>
                <a:latin typeface="Calibri"/>
              </a:defRPr>
            </a:pPr>
            <a:r>
              <a:t>Four critical strategic realities uncovered across the enterprise</a:t>
            </a:r>
          </a:p>
        </p:txBody>
      </p:sp>
      <p:sp>
        <p:nvSpPr>
          <p:cNvPr id="3" name="TextBox 2"/>
          <p:cNvSpPr txBox="1"/>
          <p:nvPr/>
        </p:nvSpPr>
        <p:spPr>
          <a:xfrm>
            <a:off x="731520" y="1463040"/>
            <a:ext cx="5303520" cy="4754880"/>
          </a:xfrm>
          <a:prstGeom prst="rect">
            <a:avLst/>
          </a:prstGeom>
          <a:noFill/>
        </p:spPr>
        <p:txBody>
          <a:bodyPr wrap="square">
            <a:spAutoFit/>
          </a:bodyPr>
          <a:lstStyle/>
          <a:p/>
          <a:p>
            <a:pPr>
              <a:spcBef>
                <a:spcPts val="1200"/>
              </a:spcBef>
              <a:defRPr b="1" sz="1500">
                <a:solidFill>
                  <a:srgbClr val="1F497D"/>
                </a:solidFill>
              </a:defRPr>
            </a:pPr>
            <a:r>
              <a:t>• Discount Destruction: </a:t>
            </a:r>
            <a:r>
              <a:rPr b="0">
                <a:solidFill>
                  <a:srgbClr val="323232"/>
                </a:solidFill>
              </a:rPr>
              <a:t>Discounts over 20% directly eliminated $814,800 in cumulative net profit, operating at deep negative margins (-25.8% to -111%).</a:t>
            </a:r>
          </a:p>
          <a:p>
            <a:pPr>
              <a:spcBef>
                <a:spcPts val="1200"/>
              </a:spcBef>
              <a:defRPr b="1" sz="1500">
                <a:solidFill>
                  <a:srgbClr val="1F497D"/>
                </a:solidFill>
              </a:defRPr>
            </a:pPr>
            <a:r>
              <a:t>• Loss Centers in Catalog: </a:t>
            </a:r>
            <a:r>
              <a:rPr b="0">
                <a:solidFill>
                  <a:srgbClr val="323232"/>
                </a:solidFill>
              </a:rPr>
              <a:t>The 'Tables' sub-category alone lost -$64,083 (-8.5% margin), driven by bulky shipping fees and excessive promotional discounts.</a:t>
            </a:r>
          </a:p>
          <a:p>
            <a:pPr>
              <a:spcBef>
                <a:spcPts val="1200"/>
              </a:spcBef>
              <a:defRPr b="1" sz="1500">
                <a:solidFill>
                  <a:srgbClr val="1F497D"/>
                </a:solidFill>
              </a:defRPr>
            </a:pPr>
            <a:r>
              <a:t>• Regional Powerhouses: </a:t>
            </a:r>
            <a:r>
              <a:rPr b="0">
                <a:solidFill>
                  <a:srgbClr val="323232"/>
                </a:solidFill>
              </a:rPr>
              <a:t>APAC ($436K profit) and EU ($373K profit) generate over 55% of global profit with consistent 12%+ margins.</a:t>
            </a:r>
          </a:p>
          <a:p>
            <a:pPr>
              <a:spcBef>
                <a:spcPts val="1200"/>
              </a:spcBef>
              <a:defRPr b="1" sz="1500">
                <a:solidFill>
                  <a:srgbClr val="1F497D"/>
                </a:solidFill>
              </a:defRPr>
            </a:pPr>
            <a:r>
              <a:t>• Fulfillment Friction: </a:t>
            </a:r>
            <a:r>
              <a:rPr b="0">
                <a:solidFill>
                  <a:srgbClr val="323232"/>
                </a:solidFill>
              </a:rPr>
              <a:t>Critical orders fulfill in 1.8 days but freight cost consumes 26.5% of sales, eroding expedited order profitability.</a:t>
            </a:r>
          </a:p>
        </p:txBody>
      </p:sp>
      <p:pic>
        <p:nvPicPr>
          <p:cNvPr id="4" name="Picture 3" descr="2_market_sales_profit.png"/>
          <p:cNvPicPr>
            <a:picLocks noChangeAspect="1"/>
          </p:cNvPicPr>
          <p:nvPr/>
        </p:nvPicPr>
        <p:blipFill>
          <a:blip r:embed="rId2"/>
          <a:stretch>
            <a:fillRect/>
          </a:stretch>
        </p:blipFill>
        <p:spPr>
          <a:xfrm>
            <a:off x="6217920" y="1645920"/>
            <a:ext cx="5303520" cy="26517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1F497D"/>
                </a:solidFill>
                <a:latin typeface="Calibri"/>
              </a:defRPr>
            </a:pPr>
            <a:r>
              <a:t>Slide 4: Deep-Dive — The Heavy Discount Margin Trap</a:t>
            </a:r>
          </a:p>
          <a:p>
            <a:pPr>
              <a:defRPr sz="1400">
                <a:solidFill>
                  <a:srgbClr val="646464"/>
                </a:solidFill>
                <a:latin typeface="Calibri"/>
              </a:defRPr>
            </a:pPr>
            <a:r>
              <a:t>Proving that discounts &gt;20% destroy value rather than driving profitable volume</a:t>
            </a:r>
          </a:p>
        </p:txBody>
      </p:sp>
      <p:sp>
        <p:nvSpPr>
          <p:cNvPr id="3" name="TextBox 2"/>
          <p:cNvSpPr txBox="1"/>
          <p:nvPr/>
        </p:nvSpPr>
        <p:spPr>
          <a:xfrm>
            <a:off x="731520" y="1463040"/>
            <a:ext cx="5303520" cy="4754880"/>
          </a:xfrm>
          <a:prstGeom prst="rect">
            <a:avLst/>
          </a:prstGeom>
          <a:noFill/>
        </p:spPr>
        <p:txBody>
          <a:bodyPr wrap="square">
            <a:spAutoFit/>
          </a:bodyPr>
          <a:lstStyle/>
          <a:p/>
          <a:p>
            <a:pPr>
              <a:spcBef>
                <a:spcPts val="1200"/>
              </a:spcBef>
              <a:defRPr b="1" sz="1500">
                <a:solidFill>
                  <a:srgbClr val="1F497D"/>
                </a:solidFill>
              </a:defRPr>
            </a:pPr>
            <a:r>
              <a:t>• Initial Expectation: </a:t>
            </a:r>
            <a:r>
              <a:rPr b="0">
                <a:solidFill>
                  <a:srgbClr val="323232"/>
                </a:solidFill>
              </a:rPr>
              <a:t>Management expected higher volume discounts to win enterprise accounts and maximize total gross dollar profit.</a:t>
            </a:r>
          </a:p>
          <a:p>
            <a:pPr>
              <a:spcBef>
                <a:spcPts val="1200"/>
              </a:spcBef>
              <a:defRPr b="1" sz="1500">
                <a:solidFill>
                  <a:srgbClr val="1F497D"/>
                </a:solidFill>
              </a:defRPr>
            </a:pPr>
            <a:r>
              <a:t>• Empirical Reality: </a:t>
            </a:r>
            <a:r>
              <a:rPr b="0">
                <a:solidFill>
                  <a:srgbClr val="323232"/>
                </a:solidFill>
              </a:rPr>
              <a:t>0% discount orders yielded 25.3% margin (+$1.77M profit). 1-20% discount yielded 13.7% margin (+$511K profit). When discounts crossed 20%, profits plunged to -$402K (21-50% tier) and -$412K (&gt;50% tier).</a:t>
            </a:r>
          </a:p>
          <a:p>
            <a:pPr>
              <a:spcBef>
                <a:spcPts val="1200"/>
              </a:spcBef>
              <a:defRPr b="1" sz="1500">
                <a:solidFill>
                  <a:srgbClr val="1F497D"/>
                </a:solidFill>
              </a:defRPr>
            </a:pPr>
            <a:r>
              <a:t>• Root Cause Analysis: </a:t>
            </a:r>
            <a:r>
              <a:rPr b="0">
                <a:solidFill>
                  <a:srgbClr val="323232"/>
                </a:solidFill>
              </a:rPr>
              <a:t>Field reps used unmonitored high discounts to close commodity orders, unaware that manufacturing cost plus freight exceeded discounted pricing.</a:t>
            </a:r>
          </a:p>
          <a:p>
            <a:pPr>
              <a:spcBef>
                <a:spcPts val="1200"/>
              </a:spcBef>
              <a:defRPr b="1" sz="1500">
                <a:solidFill>
                  <a:srgbClr val="1F497D"/>
                </a:solidFill>
              </a:defRPr>
            </a:pPr>
            <a:r>
              <a:t>• Strategic Takeaway: </a:t>
            </a:r>
            <a:r>
              <a:rPr b="0">
                <a:solidFill>
                  <a:srgbClr val="323232"/>
                </a:solidFill>
              </a:rPr>
              <a:t>Volume elasticity is an illusion beyond 20% discount. Eliminating deep discounts immediately restores ~$500K to EBITDA.</a:t>
            </a:r>
          </a:p>
        </p:txBody>
      </p:sp>
      <p:pic>
        <p:nvPicPr>
          <p:cNvPr id="4" name="Picture 3" descr="1_discount_margin_erosion.png"/>
          <p:cNvPicPr>
            <a:picLocks noChangeAspect="1"/>
          </p:cNvPicPr>
          <p:nvPr/>
        </p:nvPicPr>
        <p:blipFill>
          <a:blip r:embed="rId2"/>
          <a:stretch>
            <a:fillRect/>
          </a:stretch>
        </p:blipFill>
        <p:spPr>
          <a:xfrm>
            <a:off x="6217920" y="1645920"/>
            <a:ext cx="5303520" cy="29464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1F497D"/>
                </a:solidFill>
                <a:latin typeface="Calibri"/>
              </a:defRPr>
            </a:pPr>
            <a:r>
              <a:t>Slide 5: Actionable Strategic Recommendations</a:t>
            </a:r>
          </a:p>
          <a:p>
            <a:pPr>
              <a:defRPr sz="1400">
                <a:solidFill>
                  <a:srgbClr val="646464"/>
                </a:solidFill>
                <a:latin typeface="Calibri"/>
              </a:defRPr>
            </a:pPr>
            <a:r>
              <a:t>Three prioritized initiatives to drive margin expansion and operational excellence</a:t>
            </a:r>
          </a:p>
        </p:txBody>
      </p:sp>
      <p:sp>
        <p:nvSpPr>
          <p:cNvPr id="3" name="TextBox 2"/>
          <p:cNvSpPr txBox="1"/>
          <p:nvPr/>
        </p:nvSpPr>
        <p:spPr>
          <a:xfrm>
            <a:off x="731520" y="1463040"/>
            <a:ext cx="10698480" cy="4754880"/>
          </a:xfrm>
          <a:prstGeom prst="rect">
            <a:avLst/>
          </a:prstGeom>
          <a:noFill/>
        </p:spPr>
        <p:txBody>
          <a:bodyPr wrap="square">
            <a:spAutoFit/>
          </a:bodyPr>
          <a:lstStyle/>
          <a:p/>
          <a:p>
            <a:pPr>
              <a:spcBef>
                <a:spcPts val="1200"/>
              </a:spcBef>
              <a:defRPr b="1" sz="1500">
                <a:solidFill>
                  <a:srgbClr val="1F497D"/>
                </a:solidFill>
              </a:defRPr>
            </a:pPr>
            <a:r>
              <a:t>• 1. Implement Dynamic Pricing Floors (Priority: HIGH | Owner: CCO): </a:t>
            </a:r>
            <a:r>
              <a:rPr b="0">
                <a:solidFill>
                  <a:srgbClr val="323232"/>
                </a:solidFill>
              </a:rPr>
              <a:t>Enforce automated system guardrails: 15% maximum discretionary rep discount. Any quote exceeding 20% discount requires algorithmic VP approval with margin verification.</a:t>
            </a:r>
          </a:p>
          <a:p>
            <a:pPr>
              <a:spcBef>
                <a:spcPts val="1200"/>
              </a:spcBef>
              <a:defRPr b="1" sz="1500">
                <a:solidFill>
                  <a:srgbClr val="1F497D"/>
                </a:solidFill>
              </a:defRPr>
            </a:pPr>
            <a:r>
              <a:t>• 2. Overhaul Unprofitable Sub-Categories (Priority: MEDIUM | Owner: VP Merchandising): </a:t>
            </a:r>
            <a:r>
              <a:rPr b="0">
                <a:solidFill>
                  <a:srgbClr val="323232"/>
                </a:solidFill>
              </a:rPr>
              <a:t>Reprice Tables catalog by +12%, renegotiate wholesale supplier agreements, and transition bulky furniture to drop-ship delivery models to eliminate -$64K in losses.</a:t>
            </a:r>
          </a:p>
          <a:p>
            <a:pPr>
              <a:spcBef>
                <a:spcPts val="1200"/>
              </a:spcBef>
              <a:defRPr b="1" sz="1500">
                <a:solidFill>
                  <a:srgbClr val="1F497D"/>
                </a:solidFill>
              </a:defRPr>
            </a:pPr>
            <a:r>
              <a:t>• 3. Reallocate Capital to APAC &amp; EU B2B Growth (Priority: HIGH | Owner: CMO / Sales VPs): </a:t>
            </a:r>
            <a:r>
              <a:rPr b="0">
                <a:solidFill>
                  <a:srgbClr val="323232"/>
                </a:solidFill>
              </a:rPr>
              <a:t>Shift 25% of underperforming regional expansion budget into high-yield APAC and EU enterprise sales teams to capture 12.5%+ operating margins.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1F497D"/>
                </a:solidFill>
                <a:latin typeface="Calibri"/>
              </a:defRPr>
            </a:pPr>
            <a:r>
              <a:t>Slide 6: Expected Business Impact &amp; Success Metrics</a:t>
            </a:r>
          </a:p>
          <a:p>
            <a:pPr>
              <a:defRPr sz="1400">
                <a:solidFill>
                  <a:srgbClr val="646464"/>
                </a:solidFill>
                <a:latin typeface="Calibri"/>
              </a:defRPr>
            </a:pPr>
            <a:r>
              <a:t>Quantifying the financial upside and governance scorecard</a:t>
            </a:r>
          </a:p>
        </p:txBody>
      </p:sp>
      <p:sp>
        <p:nvSpPr>
          <p:cNvPr id="3" name="TextBox 2"/>
          <p:cNvSpPr txBox="1"/>
          <p:nvPr/>
        </p:nvSpPr>
        <p:spPr>
          <a:xfrm>
            <a:off x="731520" y="1463040"/>
            <a:ext cx="10698480" cy="4754880"/>
          </a:xfrm>
          <a:prstGeom prst="rect">
            <a:avLst/>
          </a:prstGeom>
          <a:noFill/>
        </p:spPr>
        <p:txBody>
          <a:bodyPr wrap="square">
            <a:spAutoFit/>
          </a:bodyPr>
          <a:lstStyle/>
          <a:p/>
          <a:p>
            <a:pPr>
              <a:spcBef>
                <a:spcPts val="1200"/>
              </a:spcBef>
              <a:defRPr b="1" sz="1500">
                <a:solidFill>
                  <a:srgbClr val="1F497D"/>
                </a:solidFill>
              </a:defRPr>
            </a:pPr>
            <a:r>
              <a:t>• Financial Impact: </a:t>
            </a:r>
            <a:r>
              <a:rPr b="0">
                <a:solidFill>
                  <a:srgbClr val="323232"/>
                </a:solidFill>
              </a:rPr>
              <a:t>Recover $400K–$500K in annual EBITDA by eliminating negative-margin transactions and optimizing product mix.</a:t>
            </a:r>
          </a:p>
          <a:p>
            <a:pPr>
              <a:spcBef>
                <a:spcPts val="1200"/>
              </a:spcBef>
              <a:defRPr b="1" sz="1500">
                <a:solidFill>
                  <a:srgbClr val="1F497D"/>
                </a:solidFill>
              </a:defRPr>
            </a:pPr>
            <a:r>
              <a:t>• Margin Expansion Target: </a:t>
            </a:r>
            <a:r>
              <a:rPr b="0">
                <a:solidFill>
                  <a:srgbClr val="323232"/>
                </a:solidFill>
              </a:rPr>
              <a:t>Lift overall enterprise operating margin from 11.6% to 15.2% within 12 months.</a:t>
            </a:r>
          </a:p>
          <a:p>
            <a:pPr>
              <a:spcBef>
                <a:spcPts val="1200"/>
              </a:spcBef>
              <a:defRPr b="1" sz="1500">
                <a:solidFill>
                  <a:srgbClr val="1F497D"/>
                </a:solidFill>
              </a:defRPr>
            </a:pPr>
            <a:r>
              <a:t>• Logistics Cost Rationalization: </a:t>
            </a:r>
            <a:r>
              <a:rPr b="0">
                <a:solidFill>
                  <a:srgbClr val="323232"/>
                </a:solidFill>
              </a:rPr>
              <a:t>Reduce freight-to-sales expense ratio on expedited orders by 400 basis points via customer shipping co-pays.</a:t>
            </a:r>
          </a:p>
          <a:p>
            <a:pPr>
              <a:spcBef>
                <a:spcPts val="1200"/>
              </a:spcBef>
              <a:defRPr b="1" sz="1500">
                <a:solidFill>
                  <a:srgbClr val="1F497D"/>
                </a:solidFill>
              </a:defRPr>
            </a:pPr>
            <a:r>
              <a:t>• Governance KPI Scorecard: </a:t>
            </a:r>
            <a:r>
              <a:rPr b="0">
                <a:solidFill>
                  <a:srgbClr val="323232"/>
                </a:solidFill>
              </a:rPr>
              <a:t>1. Blended Gross &amp; Net Margin %
2. Discount Compliance Rate (&gt;98%)
3. Sub-Category Net Contribution ($)
4. On-Time In-Full (OTIF) Delivery SLA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1F497D"/>
                </a:solidFill>
                <a:latin typeface="Calibri"/>
              </a:defRPr>
            </a:pPr>
            <a:r>
              <a:t>Slide 7: Analytical Limitations &amp; Roadmap Ahead</a:t>
            </a:r>
          </a:p>
          <a:p>
            <a:pPr>
              <a:defRPr sz="1400">
                <a:solidFill>
                  <a:srgbClr val="646464"/>
                </a:solidFill>
                <a:latin typeface="Calibri"/>
              </a:defRPr>
            </a:pPr>
            <a:r>
              <a:t>Prudent analytical boundaries and next strategic milestones</a:t>
            </a:r>
          </a:p>
        </p:txBody>
      </p:sp>
      <p:sp>
        <p:nvSpPr>
          <p:cNvPr id="3" name="TextBox 2"/>
          <p:cNvSpPr txBox="1"/>
          <p:nvPr/>
        </p:nvSpPr>
        <p:spPr>
          <a:xfrm>
            <a:off x="731520" y="1463040"/>
            <a:ext cx="10698480" cy="4754880"/>
          </a:xfrm>
          <a:prstGeom prst="rect">
            <a:avLst/>
          </a:prstGeom>
          <a:noFill/>
        </p:spPr>
        <p:txBody>
          <a:bodyPr wrap="square">
            <a:spAutoFit/>
          </a:bodyPr>
          <a:lstStyle/>
          <a:p/>
          <a:p>
            <a:pPr>
              <a:spcBef>
                <a:spcPts val="1200"/>
              </a:spcBef>
              <a:defRPr b="1" sz="1500">
                <a:solidFill>
                  <a:srgbClr val="1F497D"/>
                </a:solidFill>
              </a:defRPr>
            </a:pPr>
            <a:r>
              <a:t>• Data Limitation 1 (Customer Acquisition): </a:t>
            </a:r>
            <a:r>
              <a:rPr b="0">
                <a:solidFill>
                  <a:srgbClr val="323232"/>
                </a:solidFill>
              </a:rPr>
              <a:t>Transaction logs lack marketing spend and CAC, precluding full cohort-level LTV:CAC calculations.</a:t>
            </a:r>
          </a:p>
          <a:p>
            <a:pPr>
              <a:spcBef>
                <a:spcPts val="1200"/>
              </a:spcBef>
              <a:defRPr b="1" sz="1500">
                <a:solidFill>
                  <a:srgbClr val="1F497D"/>
                </a:solidFill>
              </a:defRPr>
            </a:pPr>
            <a:r>
              <a:t>• Data Limitation 2 (Competitor Pricing): </a:t>
            </a:r>
            <a:r>
              <a:rPr b="0">
                <a:solidFill>
                  <a:srgbClr val="323232"/>
                </a:solidFill>
              </a:rPr>
              <a:t>Absence of real-time market rate benchmarking requires prudent, phased A/B price testing rather than drastic global price shifts.</a:t>
            </a:r>
          </a:p>
          <a:p>
            <a:pPr>
              <a:spcBef>
                <a:spcPts val="1200"/>
              </a:spcBef>
              <a:defRPr b="1" sz="1500">
                <a:solidFill>
                  <a:srgbClr val="1F497D"/>
                </a:solidFill>
              </a:defRPr>
            </a:pPr>
            <a:r>
              <a:t>• Unsafe Conclusion Warning: </a:t>
            </a:r>
            <a:r>
              <a:rPr b="0">
                <a:solidFill>
                  <a:srgbClr val="323232"/>
                </a:solidFill>
              </a:rPr>
              <a:t>Do NOT eliminate moderate discounts (1-10%). Moderate discounts remain highly profitable (+13.7% margin) and preserve customer retention.</a:t>
            </a:r>
          </a:p>
          <a:p>
            <a:pPr>
              <a:spcBef>
                <a:spcPts val="1200"/>
              </a:spcBef>
              <a:defRPr b="1" sz="1500">
                <a:solidFill>
                  <a:srgbClr val="1F497D"/>
                </a:solidFill>
              </a:defRPr>
            </a:pPr>
            <a:r>
              <a:t>• Phase 2 Analytics Roadmap: </a:t>
            </a:r>
            <a:r>
              <a:rPr b="0">
                <a:solidFill>
                  <a:srgbClr val="323232"/>
                </a:solidFill>
              </a:rPr>
              <a:t>1. Deploy interactive Google Looker Studio executive dashboard for weekly regional tracking.
2. Ingest customer NPS and delivery feedback to correlate shipping lead times with retention.
3. Build predictive price elasticity machine learning models for dynamic B2B quotes.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